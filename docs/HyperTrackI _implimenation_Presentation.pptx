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937760" cy="4937760"/>
          </a:xfrm>
          <a:prstGeom prst="ellipse">
            <a:avLst/>
          </a:prstGeom>
          <a:solidFill>
            <a:srgbClr val="1B26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3840480" cy="3840480"/>
          </a:xfrm>
          <a:prstGeom prst="ellipse">
            <a:avLst/>
          </a:prstGeom>
          <a:solidFill>
            <a:srgbClr val="1E2B52"/>
          </a:solidFill>
          <a:ln/>
        </p:spPr>
      </p:sp>
      <p:sp>
        <p:nvSpPr>
          <p:cNvPr id="4" name="Shape 2"/>
          <p:cNvSpPr/>
          <p:nvPr/>
        </p:nvSpPr>
        <p:spPr>
          <a:xfrm>
            <a:off x="617220" y="982980"/>
            <a:ext cx="868680" cy="868680"/>
          </a:xfrm>
          <a:prstGeom prst="ellipse">
            <a:avLst/>
          </a:prstGeom>
          <a:solidFill>
            <a:srgbClr val="1F8A7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200150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488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HyperTrack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548640" y="29992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Hyperhidrosis Monitoring and Management System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48640" y="3520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Stage — Web-Based Self-Reporting, Trigger-Awareness &amp; AI-Assisted Tracking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34340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UCS503P — Software Engineering  |  Thapar Institute of Engineering and Technology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47091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Prabhkirat Kaur  •  Aditya Rajput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080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episode logging solves what retrospective recall can't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42032" cy="2514600"/>
          </a:xfrm>
          <a:prstGeom prst="roundRect">
            <a:avLst>
              <a:gd name="adj" fmla="val 2909"/>
            </a:avLst>
          </a:prstGeom>
          <a:solidFill>
            <a:srgbClr val="F3F5F9"/>
          </a:solidFill>
          <a:ln/>
        </p:spPr>
      </p:sp>
      <p:sp>
        <p:nvSpPr>
          <p:cNvPr id="5" name="Shape 3"/>
          <p:cNvSpPr/>
          <p:nvPr/>
        </p:nvSpPr>
        <p:spPr>
          <a:xfrm>
            <a:off x="1431036" y="1988820"/>
            <a:ext cx="777240" cy="777240"/>
          </a:xfrm>
          <a:prstGeom prst="ellipse">
            <a:avLst/>
          </a:prstGeom>
          <a:solidFill>
            <a:srgbClr val="1F8A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5346" y="218313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2608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Recall Bias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42900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are asked to summarise frequency and triggers between visits — without a log, this is largely guesswork.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19272" y="1783080"/>
            <a:ext cx="2542032" cy="2514600"/>
          </a:xfrm>
          <a:prstGeom prst="roundRect">
            <a:avLst>
              <a:gd name="adj" fmla="val 2909"/>
            </a:avLst>
          </a:prstGeom>
          <a:solidFill>
            <a:srgbClr val="F3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4201668" y="1988820"/>
            <a:ext cx="777240" cy="777240"/>
          </a:xfrm>
          <a:prstGeom prst="ellipse">
            <a:avLst/>
          </a:prstGeom>
          <a:solidFill>
            <a:srgbClr val="1F8A7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978" y="218313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6432" y="292608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Patient History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02152" y="342900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end up judging from an incomplete, self-reported history rather than consistent, timestamped data.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89904" y="1783080"/>
            <a:ext cx="2542032" cy="2514600"/>
          </a:xfrm>
          <a:prstGeom prst="roundRect">
            <a:avLst>
              <a:gd name="adj" fmla="val 2909"/>
            </a:avLst>
          </a:prstGeom>
          <a:solidFill>
            <a:srgbClr val="F3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6972300" y="1988820"/>
            <a:ext cx="777240" cy="777240"/>
          </a:xfrm>
          <a:prstGeom prst="ellipse">
            <a:avLst/>
          </a:prstGeom>
          <a:solidFill>
            <a:srgbClr val="1F8A7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610" y="218313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27064" y="292608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Unrecorded Trigger Data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72784" y="342900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spikes, caffeine, activity, and environmental conditions go unrecorded, so real patterns stay invisible.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860536" y="1783080"/>
            <a:ext cx="2542032" cy="2514600"/>
          </a:xfrm>
          <a:prstGeom prst="roundRect">
            <a:avLst>
              <a:gd name="adj" fmla="val 2909"/>
            </a:avLst>
          </a:prstGeom>
          <a:solidFill>
            <a:srgbClr val="F3F5F9"/>
          </a:solidFill>
          <a:ln/>
        </p:spPr>
      </p:sp>
      <p:sp>
        <p:nvSpPr>
          <p:cNvPr id="20" name="Shape 15"/>
          <p:cNvSpPr/>
          <p:nvPr/>
        </p:nvSpPr>
        <p:spPr>
          <a:xfrm>
            <a:off x="9742932" y="1988820"/>
            <a:ext cx="777240" cy="777240"/>
          </a:xfrm>
          <a:prstGeom prst="ellipse">
            <a:avLst/>
          </a:prstGeom>
          <a:solidFill>
            <a:srgbClr val="1F8A7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7242" y="218313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97696" y="292608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Risk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043416" y="342900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LLM answer about hyperhidrosis in the abstract isn't grounded in what the patient actually logged.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61772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EAF6F4"/>
          </a:solidFill>
          <a:ln/>
        </p:spPr>
      </p:sp>
      <p:sp>
        <p:nvSpPr>
          <p:cNvPr id="25" name="Shape 19"/>
          <p:cNvSpPr/>
          <p:nvPr/>
        </p:nvSpPr>
        <p:spPr>
          <a:xfrm>
            <a:off x="877824" y="4809744"/>
            <a:ext cx="621792" cy="621792"/>
          </a:xfrm>
          <a:prstGeom prst="ellipse">
            <a:avLst/>
          </a:prstGeom>
          <a:solidFill>
            <a:srgbClr val="1F8A7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96519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91640" y="4800600"/>
            <a:ext cx="9765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 </a:t>
            </a:r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insight and chat answer is generated strictly from the user's own logged episodes — never a generic hyperhidrosis FAQ.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691640" y="5513832"/>
            <a:ext cx="9765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scope boundary: an observation and self-documentation aid only — every AI response directs the user to consult a licensed dermatologist.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HyperTrack  ·  Prototype Stage, UCS503P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Built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Firebase-first frontend with a thin FastAPI layer purely for AI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3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1819656"/>
            <a:ext cx="566928" cy="566928"/>
          </a:xfrm>
          <a:prstGeom prst="ellipse">
            <a:avLst/>
          </a:prstGeom>
          <a:solidFill>
            <a:srgbClr val="1F8A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655" y="1947215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5623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F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 </a:t>
            </a:r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TypeScript, Vite, Tailwind CSS 4, React Router 7.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" y="3346704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F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Database:  </a:t>
            </a:r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 (email/password) and Cloud Firestore, real time via onSnapshot.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68680" y="4041648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F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Backend:  </a:t>
            </a:r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Uvicorn, Firebase Admin SDK, Pydantic request/response models.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8680" y="4736592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F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Model:  </a:t>
            </a:r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(gemini-2.5-flash) via google-genai — a reasoning layer over data the user already owns.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68680" y="5431536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F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Tooling:  </a:t>
            </a:r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dev-server proxy (/api/* → localhost:8000); oxlint for frontend linting.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72200" y="1600200"/>
            <a:ext cx="5468112" cy="4572000"/>
          </a:xfrm>
          <a:prstGeom prst="roundRect">
            <a:avLst>
              <a:gd name="adj" fmla="val 1600"/>
            </a:avLst>
          </a:prstGeom>
          <a:solidFill>
            <a:srgbClr val="1B2A4A"/>
          </a:solidFill>
          <a:ln/>
        </p:spPr>
      </p:sp>
      <p:sp>
        <p:nvSpPr>
          <p:cNvPr id="14" name="Shape 11"/>
          <p:cNvSpPr/>
          <p:nvPr/>
        </p:nvSpPr>
        <p:spPr>
          <a:xfrm>
            <a:off x="6391656" y="1819656"/>
            <a:ext cx="566928" cy="566928"/>
          </a:xfrm>
          <a:prstGeom prst="ellipse">
            <a:avLst/>
          </a:prstGeom>
          <a:solidFill>
            <a:srgbClr val="1F8A7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215" y="1947215"/>
            <a:ext cx="311810" cy="31181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40880" y="1856232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Layout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492240" y="2651760"/>
            <a:ext cx="4828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6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 &amp; ProtectedRoute</a:t>
            </a:r>
            <a:pPr algn="l" indent="0" marL="0">
              <a:lnSpc>
                <a:spcPts val="1400"/>
              </a:lnSpc>
              <a:buNone/>
            </a:pP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Firebase user and guards routes; redirects to /login without a session.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492240" y="3511296"/>
            <a:ext cx="4828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6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LogEpisode.tsx</a:t>
            </a:r>
            <a:pPr algn="l" indent="0" marL="0">
              <a:lnSpc>
                <a:spcPts val="1400"/>
              </a:lnSpc>
              <a:buNone/>
            </a:pP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episode-logging form — severity, body area, and duration required before submit.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492240" y="4370832"/>
            <a:ext cx="4828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6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services/episodes.ts</a:t>
            </a:r>
            <a:pPr algn="l" indent="0" marL="0">
              <a:lnSpc>
                <a:spcPts val="1400"/>
              </a:lnSpc>
              <a:buNone/>
            </a:pP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reads &amp; writes; subscribes Dashboard, History, Analytics via onSnapshot.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492240" y="5230368"/>
            <a:ext cx="4828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6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routers/ai.py</a:t>
            </a:r>
            <a:pPr algn="l" indent="0" marL="0">
              <a:lnSpc>
                <a:spcPts val="1400"/>
              </a:lnSpc>
              <a:buNone/>
            </a:pP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endpoints for Gemini-backed Insights and Chat, scoped to one user's data.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HyperTrack  ·  Prototype Stage, UCS503P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patient action to Firestore sync, to a grounded AI response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4692" y="1691640"/>
            <a:ext cx="1847088" cy="868680"/>
          </a:xfrm>
          <a:prstGeom prst="roundRect">
            <a:avLst>
              <a:gd name="adj" fmla="val 6316"/>
            </a:avLst>
          </a:prstGeom>
          <a:solidFill>
            <a:srgbClr val="EAF6F4"/>
          </a:solidFill>
          <a:ln w="15875">
            <a:solidFill>
              <a:srgbClr val="1F8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0412" y="169164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11780" y="16916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67812" y="1691640"/>
            <a:ext cx="1847088" cy="868680"/>
          </a:xfrm>
          <a:prstGeom prst="roundRect">
            <a:avLst>
              <a:gd name="adj" fmla="val 6316"/>
            </a:avLst>
          </a:prstGeom>
          <a:solidFill>
            <a:srgbClr val="EAF6F4"/>
          </a:solidFill>
          <a:ln w="15875">
            <a:solidFill>
              <a:srgbClr val="1F8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13532" y="169164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14900" y="16916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70932" y="1691640"/>
            <a:ext cx="1847088" cy="868680"/>
          </a:xfrm>
          <a:prstGeom prst="roundRect">
            <a:avLst>
              <a:gd name="adj" fmla="val 6316"/>
            </a:avLst>
          </a:prstGeom>
          <a:solidFill>
            <a:srgbClr val="EAF6F4"/>
          </a:solidFill>
          <a:ln w="15875">
            <a:solidFill>
              <a:srgbClr val="1F8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6652" y="169164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18020" y="16916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274052" y="1691640"/>
            <a:ext cx="1847088" cy="868680"/>
          </a:xfrm>
          <a:prstGeom prst="roundRect">
            <a:avLst>
              <a:gd name="adj" fmla="val 6316"/>
            </a:avLst>
          </a:prstGeom>
          <a:solidFill>
            <a:srgbClr val="EAF6F4"/>
          </a:solidFill>
          <a:ln w="15875">
            <a:solidFill>
              <a:srgbClr val="1F8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9772" y="169164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Sync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21140" y="16916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77172" y="1691640"/>
            <a:ext cx="1847088" cy="868680"/>
          </a:xfrm>
          <a:prstGeom prst="roundRect">
            <a:avLst>
              <a:gd name="adj" fmla="val 6316"/>
            </a:avLst>
          </a:prstGeom>
          <a:solidFill>
            <a:srgbClr val="EAF6F4"/>
          </a:solidFill>
          <a:ln w="15875">
            <a:solidFill>
              <a:srgbClr val="1F8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22892" y="169164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Chat (Gemini)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670048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 End-to-end data flow — authentication, episode logging, Firestore persistence, real-time sync to Dashboard/History/Analytics, and on-demand AI insights/chat.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416052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1605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0" y="416052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944368" y="416052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2990088" y="41605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reads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data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10328" y="416052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11496" y="416052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5157216" y="41605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(gemini-2.5-flash)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77456" y="416052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278624" y="416052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7324344" y="41605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structured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244584" y="416052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445752" y="416052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9491472" y="41605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/ chat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rendered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" y="5184648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2.  AI Insights / Chat workflow — the backend never lets Gemini see any user's data but the requester's own, and always returns a structured response.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HyperTrack  ·  Prototype Stage, UCS503P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 at This Stage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demoable, end-to-end loop grounded in the user's own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50976" y="169164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1F8A7A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82696" y="169164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02736" y="169164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1F8A7A"/>
          </a:solidFill>
          <a:ln/>
        </p:spPr>
      </p:sp>
      <p:sp>
        <p:nvSpPr>
          <p:cNvPr id="8" name="Text 6"/>
          <p:cNvSpPr/>
          <p:nvPr/>
        </p:nvSpPr>
        <p:spPr>
          <a:xfrm>
            <a:off x="3602736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34456" y="169164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54496" y="169164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1F8A7A"/>
          </a:solidFill>
          <a:ln/>
        </p:spPr>
      </p:sp>
      <p:sp>
        <p:nvSpPr>
          <p:cNvPr id="11" name="Text 9"/>
          <p:cNvSpPr/>
          <p:nvPr/>
        </p:nvSpPr>
        <p:spPr>
          <a:xfrm>
            <a:off x="6254496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Chat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586216" y="169164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906256" y="169164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1F8A7A"/>
          </a:solidFill>
          <a:ln/>
        </p:spPr>
      </p:sp>
      <p:sp>
        <p:nvSpPr>
          <p:cNvPr id="14" name="Text 12"/>
          <p:cNvSpPr/>
          <p:nvPr/>
        </p:nvSpPr>
        <p:spPr>
          <a:xfrm>
            <a:off x="8906256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Patient-Facing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3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1490472" y="3054096"/>
            <a:ext cx="658368" cy="658368"/>
          </a:xfrm>
          <a:prstGeom prst="ellipse">
            <a:avLst/>
          </a:prstGeom>
          <a:solidFill>
            <a:srgbClr val="1F8A7A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064" y="3218688"/>
            <a:ext cx="329184" cy="32918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85800" y="379476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by Default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13232" y="4270248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Firestore's onSnapshot means Dashboard, History, and Analytics reflect a new episode instantly — no polling, no manual refresh.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319272" y="288036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3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4261104" y="3054096"/>
            <a:ext cx="658368" cy="658368"/>
          </a:xfrm>
          <a:prstGeom prst="ellipse">
            <a:avLst/>
          </a:prstGeom>
          <a:solidFill>
            <a:srgbClr val="1F8A7A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3218688"/>
            <a:ext cx="329184" cy="32918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456432" y="379476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AI Layer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3483864" y="4270248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and Chat endpoints only ever see the requesting user's own episodes — never a generic hyperhidrosis answer.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089904" y="288036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3F5F9"/>
          </a:solidFill>
          <a:ln/>
        </p:spPr>
      </p:sp>
      <p:sp>
        <p:nvSpPr>
          <p:cNvPr id="26" name="Shape 22"/>
          <p:cNvSpPr/>
          <p:nvPr/>
        </p:nvSpPr>
        <p:spPr>
          <a:xfrm>
            <a:off x="7031736" y="3054096"/>
            <a:ext cx="658368" cy="658368"/>
          </a:xfrm>
          <a:prstGeom prst="ellipse">
            <a:avLst/>
          </a:prstGeom>
          <a:solidFill>
            <a:srgbClr val="1F8A7A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3218688"/>
            <a:ext cx="329184" cy="32918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27064" y="379476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Without Training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254496" y="4270248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log episode, dashboard, history, analytics, and reports ship as one demoable patient-facing flow.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8860536" y="288036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3F5F9"/>
          </a:solidFill>
          <a:ln/>
        </p:spPr>
      </p:sp>
      <p:sp>
        <p:nvSpPr>
          <p:cNvPr id="31" name="Shape 26"/>
          <p:cNvSpPr/>
          <p:nvPr/>
        </p:nvSpPr>
        <p:spPr>
          <a:xfrm>
            <a:off x="9802368" y="3054096"/>
            <a:ext cx="658368" cy="658368"/>
          </a:xfrm>
          <a:prstGeom prst="ellipse">
            <a:avLst/>
          </a:prstGeom>
          <a:solidFill>
            <a:srgbClr val="1F8A7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3218688"/>
            <a:ext cx="329184" cy="32918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997696" y="379476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Bounded Scope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9025128" y="4270248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clinician portal, no diagnosis or treatment logic — strictly an observation and self-documentation aid.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HyperTrack  ·  Prototype Stage, UCS503P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One Honest Gap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issue below is reported, not discovered later during evaluation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3F5F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D0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49808" y="2313432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Placeholder Metric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86207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9808" y="3118104"/>
            <a:ext cx="3118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Dashboard's "AI Pattern Intelligence" card shows a hardcoded 94.2% confidence figure that is not computed from real data.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4361688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1F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9808" y="4617720"/>
            <a:ext cx="3118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honestly rather than hidden — genuinely computing or removing it is the first item on the Stage 2 roadmap.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25112" y="169164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3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4507992" y="1828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D0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26280" y="2313432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Query Drift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286207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26280" y="3118104"/>
            <a:ext cx="3118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reads were at risk of duplication per page; a mismatch in query shape silently produces an empty or wrong dashboard.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26280" y="4361688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1F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26280" y="4617720"/>
            <a:ext cx="3118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all Firestore access in a single services/episodes.ts module so every view shares one query shape.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01584" y="169164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3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8284464" y="1828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D0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302752" y="2313432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Manual-Only Testing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02752" y="286207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02752" y="3118104"/>
            <a:ext cx="3118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test suite for frontend or backend yet — every screen (Login through AI Chat) is exercised by hand.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02752" y="4361688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1F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302752" y="4617720"/>
            <a:ext cx="3118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backend smoke script confirms /api/ai/insights returns a well-formed 200; a full pytest + unit suite is scoped next.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HyperTrack  ·  Prototype Stage, UCS503P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prototype taught us about the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3F5F9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1988820"/>
            <a:ext cx="777240" cy="777240"/>
          </a:xfrm>
          <a:prstGeom prst="ellipse">
            <a:avLst/>
          </a:prstGeom>
          <a:solidFill>
            <a:srgbClr val="1F8A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4550" y="218313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175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 Came Free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Firestore's real-time listeners gave instant dashboard updates without a websocket layer we would have had to build ourselves.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7373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3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5696712" y="1988820"/>
            <a:ext cx="777240" cy="777240"/>
          </a:xfrm>
          <a:prstGeom prst="ellipse">
            <a:avLst/>
          </a:prstGeom>
          <a:solidFill>
            <a:srgbClr val="1F8A7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022" y="218313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30175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Security Boundary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99432" y="37033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 Gemini to one user's own data and keeping the API key server-side took one FastAPI router, not a security overhaul.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7373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3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9473184" y="1988820"/>
            <a:ext cx="777240" cy="777240"/>
          </a:xfrm>
          <a:prstGeom prst="ellipse">
            <a:avLst/>
          </a:prstGeom>
          <a:solidFill>
            <a:srgbClr val="1F8A7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494" y="218313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0184" y="30175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Testable Halves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75904" y="37033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"Firebase owns data + auth, FastAPI owns only AI" kept the core app usable even while the AI backend was still in development.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HyperTrack  ·  Prototype Stage, UCS503P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645920"/>
            <a:ext cx="4754880" cy="4754880"/>
          </a:xfrm>
          <a:prstGeom prst="ellipse">
            <a:avLst/>
          </a:prstGeom>
          <a:solidFill>
            <a:srgbClr val="1B26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 today, and the path to Stage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1E2A4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D9A40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574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659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68680" y="2816352"/>
            <a:ext cx="82296" cy="82296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10" name="Text 7"/>
          <p:cNvSpPr/>
          <p:nvPr/>
        </p:nvSpPr>
        <p:spPr>
          <a:xfrm>
            <a:off x="1078992" y="27432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confidence metric (94.2%) is still a placeholder, not yet computed from real data.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3776472"/>
            <a:ext cx="82296" cy="82296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12" name="Text 9"/>
          <p:cNvSpPr/>
          <p:nvPr/>
        </p:nvSpPr>
        <p:spPr>
          <a:xfrm>
            <a:off x="1078992" y="37033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test suite yet — frontend and backend are tested manually only.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8680" y="4736592"/>
            <a:ext cx="82296" cy="82296"/>
          </a:xfrm>
          <a:prstGeom prst="ellipse">
            <a:avLst/>
          </a:prstGeom>
          <a:solidFill>
            <a:srgbClr val="D9A404"/>
          </a:solidFill>
          <a:ln/>
        </p:spPr>
      </p:sp>
      <p:sp>
        <p:nvSpPr>
          <p:cNvPr id="14" name="Text 11"/>
          <p:cNvSpPr/>
          <p:nvPr/>
        </p:nvSpPr>
        <p:spPr>
          <a:xfrm>
            <a:off x="1078992" y="46634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export (CSV/PDF) is currently browser-rendered only, not yet server-side.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2200" y="169164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1F8A7A"/>
          </a:solidFill>
          <a:ln/>
        </p:spPr>
      </p:sp>
      <p:sp>
        <p:nvSpPr>
          <p:cNvPr id="16" name="Shape 13"/>
          <p:cNvSpPr/>
          <p:nvPr/>
        </p:nvSpPr>
        <p:spPr>
          <a:xfrm>
            <a:off x="6446520" y="1920240"/>
            <a:ext cx="548640" cy="548640"/>
          </a:xfrm>
          <a:prstGeom prst="ellipse">
            <a:avLst/>
          </a:prstGeom>
          <a:solidFill>
            <a:srgbClr val="17685D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5740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86600" y="19659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 Roadmap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6492240" y="2816352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6702552" y="27432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hardcoded 94.2% figure with a genuinely computed metric, or remove it.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492240" y="3621024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18"/>
          <p:cNvSpPr/>
          <p:nvPr/>
        </p:nvSpPr>
        <p:spPr>
          <a:xfrm>
            <a:off x="6702552" y="354787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automated test suite: frontend component tests plus a full pytest suite.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492240" y="4425696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0"/>
          <p:cNvSpPr/>
          <p:nvPr/>
        </p:nvSpPr>
        <p:spPr>
          <a:xfrm>
            <a:off x="6702552" y="435254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server-side CSV/PDF export so users can share reports with a physician.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492240" y="5230368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2"/>
          <p:cNvSpPr/>
          <p:nvPr/>
        </p:nvSpPr>
        <p:spPr>
          <a:xfrm>
            <a:off x="6702552" y="515721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structured usability pass with users outside the team.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48640" y="6053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HyperTrack  ·  Prototype Stage, UCS503P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2026-09-14T07:23:17Z</dcterms:created>
  <dcterms:modified xsi:type="dcterms:W3CDTF">2026-09-14T07:23:17Z</dcterms:modified>
</cp:coreProperties>
</file>